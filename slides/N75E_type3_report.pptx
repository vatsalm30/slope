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N75E_type3 — Slope Estimation</a:t>
            </a:r>
          </a:p>
          <a:p>
            <a:pPr>
              <a:defRPr sz="1800">
                <a:solidFill>
                  <a:srgbClr val="2A9D8F"/>
                </a:solidFill>
              </a:defRPr>
            </a:pPr>
            <a:r>
              <a:t>VGGT reconstruction  →  Method 1 (ground-distance)  →  gravity-aligned to ground-truth camera poses</a:t>
            </a:r>
          </a:p>
          <a:p>
            <a:pPr>
              <a:defRPr sz="1400">
                <a:solidFill>
                  <a:srgbClr val="CCD5D7"/>
                </a:solidFill>
              </a:defRPr>
            </a:pPr>
            <a:r>
              <a:t>2 flight(s):  downhill,  uphill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DE6E8"/>
                </a:solidFill>
              </a:defRPr>
            </a:pPr>
            <a:r>
              <a:t>Why the estimate is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53"/>
                </a:solidFill>
              </a:defRPr>
            </a:pPr>
            <a:r>
              <a:t>1.  VGGT reconstructs a 3-D point cloud + camera poses from the frames.</a:t>
            </a:r>
          </a:p>
          <a:p>
            <a:pPr>
              <a:defRPr sz="1500" b="0">
                <a:solidFill>
                  <a:srgbClr val="222222"/>
                </a:solidFill>
              </a:defRPr>
            </a:pPr>
            <a:r>
              <a:t>2.  Method 1 reads the road surface beneath each camera and fits ground elevation vs. along-track distance — the line's tilt is the slope.</a:t>
            </a:r>
          </a:p>
          <a:p>
            <a:pPr>
              <a:defRPr sz="1700" b="1">
                <a:solidFill>
                  <a:srgbClr val="264653"/>
                </a:solidFill>
              </a:defRPr>
            </a:pPr>
            <a:r>
              <a:t>3.  Gravity alignment (key fix):</a:t>
            </a:r>
          </a:p>
          <a:p>
            <a:pPr lvl="1">
              <a:defRPr sz="1400" b="0">
                <a:solidFill>
                  <a:srgbClr val="222222"/>
                </a:solidFill>
              </a:defRPr>
            </a:pPr>
            <a:r>
              <a:t>VGGT's reconstruction is only defined up to a similarity transform and is exported in camera-0's frame — its vertical axis is NOT gravity.</a:t>
            </a:r>
          </a:p>
          <a:p>
            <a:pPr lvl="1">
              <a:defRPr sz="1400" b="0">
                <a:solidFill>
                  <a:srgbClr val="E76F51"/>
                </a:solidFill>
              </a:defRPr>
            </a:pPr>
            <a:r>
              <a:t>So the raw slope MAGNITUDE is measured in a tilted frame and can be far off (a true 25° slope can read ~65°).</a:t>
            </a:r>
          </a:p>
          <a:p>
            <a:pPr lvl="1">
              <a:defRPr sz="1400" b="0">
                <a:solidFill>
                  <a:srgbClr val="2A9D8F"/>
                </a:solidFill>
              </a:defRPr>
            </a:pPr>
            <a:r>
              <a:t>Fix: align the VGGT camera centres to the ground-truth camera world positions (encoded in each frame's filename), recover the missing rotation, rotate the terrain into a true-vertical frame, then measure slope.</a:t>
            </a:r>
          </a:p>
          <a:p>
            <a:pPr lvl="1">
              <a:defRPr sz="1400" b="0">
                <a:solidFill>
                  <a:srgbClr val="222222"/>
                </a:solidFill>
              </a:defRPr>
            </a:pPr>
            <a:r>
              <a:t>This corrects both the magnitude and the sign from one physical anchor. A small alignment residual (align_resid_m) confirms the fit is trustworthy.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downhill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DE6E8"/>
                </a:solidFill>
              </a:defRPr>
            </a:pPr>
            <a:r>
              <a:t>Final slope  -3.53°  downhill</a:t>
            </a:r>
          </a:p>
        </p:txBody>
      </p:sp>
      <p:pic>
        <p:nvPicPr>
          <p:cNvPr id="5" name="Picture 4" descr="N75E_type3_downhill_method1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81" y="1234440"/>
            <a:ext cx="5468436" cy="3566160"/>
          </a:xfrm>
          <a:prstGeom prst="rect">
            <a:avLst/>
          </a:prstGeom>
        </p:spPr>
      </p:pic>
      <p:pic>
        <p:nvPicPr>
          <p:cNvPr id="6" name="Picture 5" descr="N75E_type3_downhill_method1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61997"/>
            <a:ext cx="5669280" cy="2911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834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4653"/>
                </a:solidFill>
              </a:defRPr>
            </a:pPr>
            <a:r>
              <a:t>Final (gravity-aligned): -3.53° downhill    |    Method 1 R² = +0.978    |    ground points = 5</a:t>
            </a:r>
          </a:p>
          <a:p>
            <a:pPr>
              <a:defRPr sz="1300" b="0">
                <a:solidFill>
                  <a:srgbClr val="E76F51"/>
                </a:solidFill>
              </a:defRPr>
            </a:pPr>
            <a:r>
              <a:t>Gravity alignment NOT applied (degenerate camera geometry (collinear, axis ratio 0.005)). Falling back to: Method 1 magnitude, folder-label sign. Magnitude in VGGT's tilted frame — treat with caution.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uphill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DE6E8"/>
                </a:solidFill>
              </a:defRPr>
            </a:pPr>
            <a:r>
              <a:t>Final slope  +4.08°  uphill</a:t>
            </a:r>
          </a:p>
        </p:txBody>
      </p:sp>
      <p:pic>
        <p:nvPicPr>
          <p:cNvPr id="5" name="Picture 4" descr="N75E_type3_uphill_method1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81" y="1234440"/>
            <a:ext cx="5468436" cy="3566160"/>
          </a:xfrm>
          <a:prstGeom prst="rect">
            <a:avLst/>
          </a:prstGeom>
        </p:spPr>
      </p:pic>
      <p:pic>
        <p:nvPicPr>
          <p:cNvPr id="6" name="Picture 5" descr="N75E_type3_uphill_method1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61997"/>
            <a:ext cx="5669280" cy="2911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834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4653"/>
                </a:solidFill>
              </a:defRPr>
            </a:pPr>
            <a:r>
              <a:t>Final (gravity-aligned): +4.08° uphill    |    Method 1 R² = +0.994    |    ground points = 5</a:t>
            </a:r>
          </a:p>
          <a:p>
            <a:pPr>
              <a:defRPr sz="1300" b="0">
                <a:solidFill>
                  <a:srgbClr val="E76F51"/>
                </a:solidFill>
              </a:defRPr>
            </a:pPr>
            <a:r>
              <a:t>Gravity alignment NOT applied (degenerate camera geometry (collinear, axis ratio 0.002)). Falling back to: Method 1 magnitude, folder-label sign. Magnitude in VGGT's tilted frame — treat with caution.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DE6E8"/>
                </a:solidFill>
              </a:defRPr>
            </a:pPr>
            <a:r>
              <a:t>Gravity-aligned vs. raw VGGT-frame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Flight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Final (aligned)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Raw VGGT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Aligned?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Resid (m)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downhill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6F51"/>
                          </a:solidFill>
                        </a:defRPr>
                      </a:pPr>
                      <a:r>
                        <a:t>-3.53°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downhill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-3.53°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+0.978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uphill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A9D8F"/>
                          </a:solidFill>
                        </a:defRPr>
                      </a:pPr>
                      <a:r>
                        <a:t>+4.08°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uphill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-4.08°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+0.994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346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55555"/>
                </a:solidFill>
              </a:defRPr>
            </a:pPr>
            <a:r>
              <a:t>Final = gravity-aligned Method 1 (magnitude + sign from ground-truth poses). Raw VGGT = pre-alignment value in the tilted reconstruction frame, shown for transparency. A small residual means the pose alignment is reliable.</a:t>
            </a:r>
          </a:p>
          <a:p>
            <a:pPr>
              <a:defRPr sz="1300" b="1">
                <a:solidFill>
                  <a:srgbClr val="E76F51"/>
                </a:solidFill>
              </a:defRPr>
            </a:pPr>
            <a:r>
              <a:t>⚠  No flight in this run was gravity-aligned — numbers are raw VGGT-frame. Re-run with the dataset path + flags so the poses can be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